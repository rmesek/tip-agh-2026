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3CD089-09C8-4309-9A3F-FDE01BC65585}">
  <a:tblStyle styleId="{BA3CD089-09C8-4309-9A3F-FDE01BC6558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5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8bc341c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8bc341c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bc341c7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8bc341c7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8bc341c78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8bc341c78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bc341c78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8bc341c78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8bc341c78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e8bc341c78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8bc341c78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8bc341c78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8bc341c78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8bc341c78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8bc341c7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8bc341c7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8bc341c78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8bc341c78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8bc341c78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8bc341c78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e8bc341c78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e8bc341c78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e8bc341c78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e8bc341c78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e8bc341c7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e8bc341c7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8bc341c78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8bc341c78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8bc341c7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8bc341c7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e8bc341c7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e8bc341c7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e8bc341c7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e8bc341c7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8bc341c78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8bc341c78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e8bc341c7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e8bc341c7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8bc341c7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8bc341c7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8bc341c7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8bc341c7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eveloper.cisco.com/docs/modeling-labs/cml-installation-guide/" TargetMode="External"/><Relationship Id="rId4" Type="http://schemas.openxmlformats.org/officeDocument/2006/relationships/slide" Target="/ppt/slides/slide1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cisco.com/c/en/us/support/docs/ip/network-address-translation-nat/217208-understanding-nat64-and-its-configuratio.html" TargetMode="External"/><Relationship Id="rId4" Type="http://schemas.openxmlformats.org/officeDocument/2006/relationships/hyperlink" Target="https://www.cisco.com/c/en/us/support/docs/ip/network-address-translation-nat/217208-understanding-nat64-and-its-configuratio.html" TargetMode="External"/><Relationship Id="rId5" Type="http://schemas.openxmlformats.org/officeDocument/2006/relationships/hyperlink" Target="https://www.cisco.com/c/en/us/support/docs/ip/network-address-translation-nat/217208-understanding-nat64-and-its-configuratio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earn.microsoft.com/en-us/windows-server/virtualization/hyper-v/get-started/install-hyper-v" TargetMode="External"/><Relationship Id="rId4" Type="http://schemas.openxmlformats.org/officeDocument/2006/relationships/hyperlink" Target="https://developer.cisco.com/docs/modeling-labs/cml-installation-guide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www.qemu.org" TargetMode="External"/><Relationship Id="rId4" Type="http://schemas.openxmlformats.org/officeDocument/2006/relationships/hyperlink" Target="https://cloudbase.it/qemu-img-windows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Skrypt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Translacja NAT64 w środowisku Cisco Modelling Labs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Cel ćwiczenia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Niniejsza instrukcja krok po kroku opisuje wdrożenie środowiska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Cisco Modeling Labs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(CML) Free Tier, konfigurację topologii testowej oraz automatyzację translacji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Stateful NAT64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przy wykorzystaniu programowania poprzez protokół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SSH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i bibliotekę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Netmiko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(Python).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Dołączone pliki potrzebne do wykonania </a:t>
            </a:r>
            <a:r>
              <a:rPr lang="en"/>
              <a:t>instrukcji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NAT64.yaml</a:t>
            </a:r>
            <a:r>
              <a:rPr lang="en"/>
              <a:t> (Topologia sieci w CML)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nat64-todo.py</a:t>
            </a:r>
            <a:r>
              <a:rPr lang="en"/>
              <a:t> (Skrypt konfiguracyjny Netmiko do własnego uzupełnienia)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nat64.py</a:t>
            </a:r>
            <a:r>
              <a:rPr lang="en"/>
              <a:t> (Gotowy skrypt konfiguracyjny Netmiko)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Informacje wstępne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NAT64 to mechanizm służący do przejścia z protokołu IPv4 na IPv6 oraz do współistnienia protokołów IPv4 i IPv6. W połączeniu z DNS64 głównym celem NAT64 jest umożliwienie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klientowi obsługującemu wyłącznie IPv6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nawiązanie połączenia z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serwerem obsługującym wyłącznie IPv4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.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NAT64 może być również wykorzystywany przez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klientów obsługujących wyłącznie IPv4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do nawiązywania połączeń z </a:t>
            </a:r>
            <a:r>
              <a:rPr b="1" lang="en">
                <a:latin typeface="Roboto"/>
                <a:ea typeface="Roboto"/>
                <a:cs typeface="Roboto"/>
                <a:sym typeface="Roboto"/>
              </a:rPr>
              <a:t>serwerami obsługującymi wyłącznie IPv6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przy użyciu statycznych lub ręcznych powiązań.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Krok 0</a:t>
            </a:r>
            <a:r>
              <a:rPr lang="en"/>
              <a:t>: Środowisko Cisco Modeling Labs (CML)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Użyte środowisko to </a:t>
            </a:r>
            <a:r>
              <a:rPr b="1" lang="en"/>
              <a:t>Cisco</a:t>
            </a:r>
            <a:r>
              <a:rPr lang="en"/>
              <a:t> </a:t>
            </a:r>
            <a:r>
              <a:rPr b="1" lang="en"/>
              <a:t>Modeling</a:t>
            </a:r>
            <a:r>
              <a:rPr lang="en"/>
              <a:t> </a:t>
            </a:r>
            <a:r>
              <a:rPr b="1" lang="en"/>
              <a:t>Labs</a:t>
            </a:r>
            <a:r>
              <a:rPr lang="en"/>
              <a:t> </a:t>
            </a:r>
            <a:r>
              <a:rPr b="1" lang="en"/>
              <a:t>-</a:t>
            </a:r>
            <a:r>
              <a:rPr lang="en"/>
              <a:t> </a:t>
            </a:r>
            <a:r>
              <a:rPr b="1" lang="en"/>
              <a:t>Free</a:t>
            </a:r>
            <a:r>
              <a:rPr lang="en"/>
              <a:t> (v. 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2.10.0</a:t>
            </a:r>
            <a:r>
              <a:rPr lang="en"/>
              <a:t>). Oprogramowanie to jest w postaci maszyny wirtualnej i posiada dosyć specyficzny sposób instalacji, co można osiągnąć na 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kilka sposobów</a:t>
            </a:r>
            <a:r>
              <a:rPr lang="en"/>
              <a:t>. Przykładowy proces instalacji w środowisku  krok po kroku przedstawiono w </a:t>
            </a:r>
            <a:r>
              <a:rPr lang="en" u="sng">
                <a:solidFill>
                  <a:schemeClr val="accent5"/>
                </a:solidFill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Dodatku 1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Kiedy już mam dostęp do panelu Cisco Modeling Labs w przeglądarce internetowej, możemy utworzyć nowy projekt i przejść do głównej części ćwiczenia.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Krok 1</a:t>
            </a:r>
            <a:r>
              <a:rPr lang="en"/>
              <a:t>: </a:t>
            </a:r>
            <a:r>
              <a:rPr lang="en"/>
              <a:t>Zbudowanie topologii wirtualnej w CML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19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 głównym panelu CML importujemy topologię sieci z pliku dołączonego do ćwiczenia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NAT64.yaml</a:t>
            </a:r>
            <a:r>
              <a:rPr lang="en"/>
              <a:t>, następnie rozpoczynamy laboratorium klikając przycisk </a:t>
            </a:r>
            <a:r>
              <a:rPr b="1" lang="en"/>
              <a:t>Start Lab</a:t>
            </a:r>
            <a:r>
              <a:rPr lang="en"/>
              <a:t> w zakładce </a:t>
            </a:r>
            <a:r>
              <a:rPr b="1" lang="en"/>
              <a:t>LAB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Czekamy</a:t>
            </a:r>
            <a:r>
              <a:rPr lang="en"/>
              <a:t>, aż uruchomią się wszystkie urządzenia (widoczne na poniższym obrazku). Możemy w tym czasie przeanalizować naszą sieć.</a:t>
            </a:r>
            <a:endParaRPr/>
          </a:p>
        </p:txBody>
      </p:sp>
      <p:pic>
        <p:nvPicPr>
          <p:cNvPr id="80" name="Google Shape;8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713" y="3109375"/>
            <a:ext cx="4450582" cy="190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Krok 2</a:t>
            </a:r>
            <a:r>
              <a:rPr lang="en"/>
              <a:t>: Założenia adresacji IP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73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Poniżej znajduje się zmodyfikowany plan adresacji względem dokumentacji Cisco. Aby zapewnić bezpośrednią komunikację w uproszczonej topologii, interfejs IPv4 </a:t>
            </a:r>
            <a:r>
              <a:rPr lang="en"/>
              <a:t>routera</a:t>
            </a:r>
            <a:r>
              <a:rPr lang="en"/>
              <a:t> zlokalizowano w tej samej podsieci (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10.1.113.X/24</a:t>
            </a:r>
            <a:r>
              <a:rPr lang="en"/>
              <a:t>), co serwer docelowy.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PC-A (Klient IPv6)</a:t>
            </a:r>
            <a:r>
              <a:rPr lang="en"/>
              <a:t>: 2001:DB8:3001::9/64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NAT64-Router (IPv6)</a:t>
            </a:r>
            <a:r>
              <a:rPr lang="en"/>
              <a:t>: 2001:DB8:3001::1/64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NAT64-Router (IPv4)</a:t>
            </a:r>
            <a:r>
              <a:rPr lang="en"/>
              <a:t>: 10.1.113.1/24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Server-IPv4</a:t>
            </a:r>
            <a:r>
              <a:rPr lang="en"/>
              <a:t>: 10.1.113.2/24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Prefiks stanowy NAT64 (NSP)</a:t>
            </a:r>
            <a:r>
              <a:rPr lang="en"/>
              <a:t>: 2800:1503:2000:1:1::/96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Pula adresów IPv4 NAT</a:t>
            </a:r>
            <a:r>
              <a:rPr lang="en"/>
              <a:t>: 50.50.50.50/30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Krok 3</a:t>
            </a:r>
            <a:r>
              <a:rPr lang="en"/>
              <a:t>: Wstępna konfiguracja SSH na routerze NAT64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90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Zanim skrypt w Pythonie nawiąże połączenie z głównym routerem, musimy na nim aktywować usługę SSH. W konsoli węzła </a:t>
            </a:r>
            <a:r>
              <a:rPr b="1" lang="en"/>
              <a:t>NAT64-Router</a:t>
            </a:r>
            <a:r>
              <a:rPr lang="en"/>
              <a:t> wpisz: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NAT64-Router&gt;enable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NAT64-Router#configure terminal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NAT64-Router(config)#ip domain-name lab.local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NAT64-Router(config)#crypto key generate rsa modulus 2048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NAT64-Router(config)#username admin privilege 15 secret Cisco123!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NAT64-Router(config)#line vty 0 4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NAT64-Router(config-line)#login local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NAT64-Router(config-line)#transport input ssh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NAT64-Router(config-line)#exit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! Konfiguracja interfejsu do zarządzania przez system Windows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NAT64-Router(config)#interface GigabitEthernet0/2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NAT64-Router(config-if)#ip address dhcp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NAT64-Router(config-if)#no shutdown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NAT64-Router(config-if)#end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Krok 3.1</a:t>
            </a:r>
            <a:r>
              <a:rPr lang="en"/>
              <a:t>: Sprawdź przydzielony adres IP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Nadal w konsoli </a:t>
            </a:r>
            <a:r>
              <a:rPr b="1" lang="en"/>
              <a:t>NAT64-Router</a:t>
            </a:r>
            <a:r>
              <a:rPr lang="en"/>
              <a:t> wpisz</a:t>
            </a:r>
            <a:r>
              <a:rPr lang="en"/>
              <a:t>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NAT64-Router&gt;show ip interface brief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Zapisz otrzymany</a:t>
            </a:r>
            <a:r>
              <a:rPr lang="en"/>
              <a:t> adres do późniejszego użycia w skrypcie.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Interface                  IP-Address      OK? Method Status                Protocol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GigabitEthernet0/0         unassigned      YES unset  administratively down down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GigabitEthernet0/1         unassigned      YES unset  administratively down down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GigabitEthernet0/2         172.21.219.220  YES DHCP   up                    up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GigabitEthernet0/3         unassigned      YES unset  administratively down down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Przykładowo w tym przypadku otrzymaliśmy adres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172.21.219.220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Krok 4</a:t>
            </a:r>
            <a:r>
              <a:rPr lang="en"/>
              <a:t>: Skrypt automatyzujący (Python / Netmiko)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8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Otwórz na swoim komputerze plik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nat64-todo.py</a:t>
            </a:r>
            <a:r>
              <a:rPr lang="en"/>
              <a:t>, zawiera on instrukcje do własnego uzupełnienia (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# TODO: ...</a:t>
            </a:r>
            <a:r>
              <a:rPr lang="en"/>
              <a:t>), które są przekazywane do </a:t>
            </a:r>
            <a:r>
              <a:rPr b="1" lang="en"/>
              <a:t>NAT64-Router</a:t>
            </a:r>
            <a:r>
              <a:rPr lang="en"/>
              <a:t> przez protokół </a:t>
            </a:r>
            <a:r>
              <a:rPr b="1" lang="en"/>
              <a:t>SSH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Skrypt ten możemy uruchomić na dwa sposoby. Wykorzystuję ona bibliotekę Netmiko (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pip install netmiko</a:t>
            </a:r>
            <a:r>
              <a:rPr lang="en"/>
              <a:t>), więc możemy albo manualnie ją zainstalować, lub wykorzystać popularny menedżer pakietów Pythona (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uv run nat64-todo.py --help</a:t>
            </a:r>
            <a:r>
              <a:rPr lang="en"/>
              <a:t>). Musimy przekazać do niego zapisany adres routera (np.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172.21.219.220</a:t>
            </a:r>
            <a:r>
              <a:rPr lang="en"/>
              <a:t>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(W razie problemów z instrukcjami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nat64.py</a:t>
            </a:r>
            <a:r>
              <a:rPr lang="en"/>
              <a:t> to uzupełniona wersja skryptu.)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Krok 5</a:t>
            </a:r>
            <a:r>
              <a:rPr lang="en"/>
              <a:t>: Konfiguracja hostów końcowych Alpine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Zastosowanie polecenia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sudo ip route replace...</a:t>
            </a:r>
            <a:r>
              <a:rPr lang="en"/>
              <a:t> nadpisze domyślne ścieżki i prawidłowo skieruje pakiety bezpośrednio do naszego routera NAT64. Otwórz konsole obu hostów Alpine </a:t>
            </a:r>
            <a:r>
              <a:rPr lang="en"/>
              <a:t>(login: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cisco/cisco</a:t>
            </a:r>
            <a:r>
              <a:rPr lang="en"/>
              <a:t>)</a:t>
            </a:r>
            <a:r>
              <a:rPr lang="en"/>
              <a:t> i wykonaj (</a:t>
            </a:r>
            <a:r>
              <a:rPr lang="en"/>
              <a:t>pojedynczo</a:t>
            </a:r>
            <a:r>
              <a:rPr lang="en"/>
              <a:t>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PC-A:~$ sudo ip addr flush dev eth0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PC-A:~$ sudo ip link set eth0 up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PC-A:~$ sudo ip addr add 2001:DB8:3001::9/64 dev eth0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PC-A:~$ sudo ip -6 route replace default via 2001:DB8:3001::1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Server-IPv4:~$ sudo ip addr flush dev eth0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Server-IPv4:~$ sudo ip link set eth0 up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Server-IPv4:~$ sudo ip addr add 10.1.113.2/24 dev eth0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Server-IPv4:~$ sudo ip route replace default via 10.1.113.1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Krok 6</a:t>
            </a:r>
            <a:r>
              <a:rPr lang="en"/>
              <a:t>: Test translacji NAT64 (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ping</a:t>
            </a:r>
            <a:r>
              <a:rPr lang="en"/>
              <a:t>)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Zainicjowanie ruchu</a:t>
            </a:r>
            <a:r>
              <a:rPr lang="en"/>
              <a:t>: W konsoli klienta </a:t>
            </a:r>
            <a:r>
              <a:rPr b="1" lang="en"/>
              <a:t>PC-A</a:t>
            </a:r>
            <a:r>
              <a:rPr lang="en"/>
              <a:t> uruchom ping na syntetyzowany adres IPv6 (zawierający zakodowany adres serwera IPv4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10.1.113.2</a:t>
            </a:r>
            <a:r>
              <a:rPr lang="en"/>
              <a:t> w formacie hex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0a01:7102</a:t>
            </a:r>
            <a:r>
              <a:rPr lang="en"/>
              <a:t> doklejony do prefiksu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2800:1503:2000:1:1::</a:t>
            </a:r>
            <a:r>
              <a:rPr lang="en"/>
              <a:t>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PC-A:~$ ping6 2800:1503:2000:1:1::0a01:7102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Zostaw działający ping</a:t>
            </a:r>
            <a:r>
              <a:rPr lang="en"/>
              <a:t> i przejdź do konsoli węzła </a:t>
            </a:r>
            <a:r>
              <a:rPr b="1" lang="en"/>
              <a:t>NAT64-Router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Krok 6.1</a:t>
            </a:r>
            <a:r>
              <a:rPr lang="en"/>
              <a:t>: Weryfikacja tabeli na routerze</a:t>
            </a:r>
            <a:endParaRPr/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 </a:t>
            </a:r>
            <a:r>
              <a:rPr lang="en"/>
              <a:t>konsoli węzła </a:t>
            </a:r>
            <a:r>
              <a:rPr b="1" lang="en"/>
              <a:t>NAT64-Router</a:t>
            </a:r>
            <a:r>
              <a:rPr lang="en"/>
              <a:t> wpisz: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NAT64-Router&gt;show nat64 translations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Proto   Original IPv4           Translated IPv4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        Translated IPv6         Original IPv6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--------------------------------------------------------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icmp    10.1.113.2:48457                [2800:1503:2000:1:1:0:A01:7102]:48457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        50.50.50.50:48457               [2001:DB8:3001:0:5054:FF:FE2F:B67D]:48457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Total number of translations: 1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Możemy sprawdzić szczegółowe statystyki translacji wpisując: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NAT64-Router&gt;show nat64 statistics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Bibliografia oraz dodatkowe materiały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 u="sng">
                <a:solidFill>
                  <a:schemeClr val="hlink"/>
                </a:solidFill>
                <a:hlinkClick r:id="rId3"/>
              </a:rPr>
              <a:t>Understand and Configure </a:t>
            </a:r>
            <a:r>
              <a:rPr lang="en" u="sng">
                <a:solidFill>
                  <a:schemeClr val="hlink"/>
                </a:solidFill>
                <a:hlinkClick r:id="rId4"/>
              </a:rPr>
              <a:t>NAT64 - </a:t>
            </a:r>
            <a:r>
              <a:rPr lang="en" u="sng">
                <a:solidFill>
                  <a:schemeClr val="accent5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Vikalp Singh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Dodatek 1</a:t>
            </a:r>
            <a:r>
              <a:rPr lang="en"/>
              <a:t>: Konfiguracja CML na Windows (Hyper-V)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5151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Minimalne wymagania sprzętowe dla maszyny wirtualnej CML (</a:t>
            </a:r>
            <a:r>
              <a:rPr b="1" lang="en"/>
              <a:t>pomijając system operacyjny hosta</a:t>
            </a:r>
            <a:r>
              <a:rPr lang="en"/>
              <a:t>) pokazano w tabelce.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Wykorzystamy oprogramowanie </a:t>
            </a:r>
            <a:r>
              <a:rPr b="1" lang="en"/>
              <a:t>Hyper-V</a:t>
            </a:r>
            <a:r>
              <a:rPr lang="en"/>
              <a:t> stosowane do wirtualizacji w systemie Windows. </a:t>
            </a:r>
            <a:r>
              <a:rPr lang="en"/>
              <a:t>P</a:t>
            </a:r>
            <a:r>
              <a:rPr lang="en"/>
              <a:t>odejście to w minimalnym stopniu ingeruje w konfigurację naszej, lecz wymaga dodatkowego przygotowania opisanego w dalszej części.</a:t>
            </a:r>
            <a:br>
              <a:rPr lang="en"/>
            </a:br>
            <a:endParaRPr/>
          </a:p>
        </p:txBody>
      </p:sp>
      <p:graphicFrame>
        <p:nvGraphicFramePr>
          <p:cNvPr id="135" name="Google Shape;135;p26"/>
          <p:cNvGraphicFramePr/>
          <p:nvPr/>
        </p:nvGraphicFramePr>
        <p:xfrm>
          <a:off x="5463600" y="144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{BA3CD089-09C8-4309-9A3F-FDE01BC65585}</a:tableStyleId>
              </a:tblPr>
              <a:tblGrid>
                <a:gridCol w="1651200"/>
                <a:gridCol w="1840075"/>
              </a:tblGrid>
              <a:tr h="79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Zasób</a:t>
                      </a:r>
                      <a:endParaRPr b="1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Minimalna ilość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 (domyślna konfiguracja)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55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Pamięć podręczna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8 GB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565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CPU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4+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 (fizyczne) rdzenie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Intel VT-x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/</a:t>
                      </a: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AMD-V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57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Sieć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 interfejs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362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Dysk</a:t>
                      </a:r>
                      <a:endParaRPr b="1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32 GB </a:t>
                      </a:r>
                      <a:r>
                        <a:rPr lang="en">
                          <a:latin typeface="Roboto"/>
                          <a:ea typeface="Roboto"/>
                          <a:cs typeface="Roboto"/>
                          <a:sym typeface="Roboto"/>
                        </a:rPr>
                        <a:t>lub więcej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Dodatek 1.1</a:t>
            </a:r>
            <a:r>
              <a:rPr lang="en"/>
              <a:t>: Instalacja Hyper-V</a:t>
            </a:r>
            <a:endParaRPr/>
          </a:p>
        </p:txBody>
      </p:sp>
      <p:sp>
        <p:nvSpPr>
          <p:cNvPr id="141" name="Google Shape;14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Narzędzie Hyper-V jest wbudowane w system Windows jako funkcja opcjonalna. Proces instalacji jest dosyć prosty, opisany na </a:t>
            </a:r>
            <a:r>
              <a:rPr lang="en" u="sng">
                <a:solidFill>
                  <a:schemeClr val="hlink"/>
                </a:solidFill>
                <a:hlinkClick r:id="rId3"/>
              </a:rPr>
              <a:t>stronie Microsoftu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Ważną informacją jest, że oficjalnie Hyper-V </a:t>
            </a:r>
            <a:r>
              <a:rPr b="1" lang="en"/>
              <a:t>nie może</a:t>
            </a:r>
            <a:r>
              <a:rPr lang="en"/>
              <a:t> być zainstalować w systemie </a:t>
            </a:r>
            <a:r>
              <a:rPr b="1" lang="en"/>
              <a:t>Windows 10 Home</a:t>
            </a:r>
            <a:r>
              <a:rPr lang="en"/>
              <a:t> ani </a:t>
            </a:r>
            <a:r>
              <a:rPr b="1" lang="en"/>
              <a:t>Windows 11 Home</a:t>
            </a:r>
            <a:r>
              <a:rPr lang="en"/>
              <a:t> (wyłącznie</a:t>
            </a:r>
            <a:r>
              <a:rPr lang="en"/>
              <a:t> edycje </a:t>
            </a:r>
            <a:r>
              <a:rPr b="1" lang="en"/>
              <a:t>Pro</a:t>
            </a:r>
            <a:r>
              <a:rPr lang="en"/>
              <a:t> lub </a:t>
            </a:r>
            <a:r>
              <a:rPr b="1" lang="en"/>
              <a:t>Enterprise</a:t>
            </a:r>
            <a:r>
              <a:rPr lang="en"/>
              <a:t>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Inne opcje instalacji opisane są w </a:t>
            </a:r>
            <a:r>
              <a:rPr lang="en" u="sng">
                <a:solidFill>
                  <a:schemeClr val="hlink"/>
                </a:solidFill>
                <a:hlinkClick r:id="rId4"/>
              </a:rPr>
              <a:t>dokumentacji CML</a:t>
            </a:r>
            <a:r>
              <a:rPr lang="en"/>
              <a:t>. Należy mieć na uwadzę, że oprogramowania tego, </a:t>
            </a:r>
            <a:r>
              <a:rPr b="1" lang="en"/>
              <a:t>nie używamy</a:t>
            </a:r>
            <a:r>
              <a:rPr lang="en"/>
              <a:t> bezpośrednio na (opcjonalnie wirtualnej) maszynie, lecz poprzez </a:t>
            </a:r>
            <a:r>
              <a:rPr b="1" lang="en"/>
              <a:t>interfejs webowy</a:t>
            </a:r>
            <a:r>
              <a:rPr lang="en"/>
              <a:t> pod udostępnionym adresem. Może to wymagać osobnego serwera i klienta przy instalacji typu bare-metal.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Dodatek 1.2</a:t>
            </a:r>
            <a:r>
              <a:rPr lang="en"/>
              <a:t>: Wymagane pliki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8520600" cy="35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Kiedy mamy już dostęp do darmowej wersji CML, ze strony Cisco musimy pobrać: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cml2_f_2.10.0-13_amd64-17.ova</a:t>
            </a:r>
            <a:r>
              <a:rPr lang="en"/>
              <a:t> (Oprogramowanie maszyny CML)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refplat-20260409-free-iso.zip</a:t>
            </a:r>
            <a:r>
              <a:rPr lang="en"/>
              <a:t> (Obrazy platform referencyjnych)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Tworzymy katalog dla naszej maszyny wirtualnej (np.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C:\VMs\CML</a:t>
            </a:r>
            <a:r>
              <a:rPr lang="en"/>
              <a:t>), kopiujemy pobrane pliki oraz otwieramy konsolę </a:t>
            </a:r>
            <a:r>
              <a:rPr b="1" lang="en"/>
              <a:t>PowerShell</a:t>
            </a:r>
            <a:r>
              <a:rPr lang="en"/>
              <a:t> w tym katalogu. Następnie przekonwertujemy obraz dostarczany przez Cisco do formatu kompatybilnego z Hyper-V.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Pomocne będzie narzędzie dostarczone z </a:t>
            </a:r>
            <a:r>
              <a:rPr lang="en" u="sng">
                <a:solidFill>
                  <a:schemeClr val="hlink"/>
                </a:solidFill>
                <a:hlinkClick r:id="rId3"/>
              </a:rPr>
              <a:t>oprogramowaniem QEMU </a:t>
            </a:r>
            <a:r>
              <a:rPr lang="en"/>
              <a:t>(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qemu-img</a:t>
            </a:r>
            <a:r>
              <a:rPr lang="en"/>
              <a:t>). Przykładowe pliki binarne dla systemu Windows są </a:t>
            </a:r>
            <a:r>
              <a:rPr lang="en" u="sng">
                <a:solidFill>
                  <a:schemeClr val="hlink"/>
                </a:solidFill>
                <a:hlinkClick r:id="rId4"/>
              </a:rPr>
              <a:t>dostępne tutaj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Dodatek 1.3</a:t>
            </a:r>
            <a:r>
              <a:rPr lang="en"/>
              <a:t>: Przygotowanie plików maszyny</a:t>
            </a:r>
            <a:endParaRPr/>
          </a:p>
        </p:txBody>
      </p:sp>
      <p:sp>
        <p:nvSpPr>
          <p:cNvPr id="153" name="Google Shape;153;p29"/>
          <p:cNvSpPr txBox="1"/>
          <p:nvPr>
            <p:ph idx="1" type="body"/>
          </p:nvPr>
        </p:nvSpPr>
        <p:spPr>
          <a:xfrm>
            <a:off x="311700" y="1152475"/>
            <a:ext cx="8520600" cy="36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 konsoli </a:t>
            </a:r>
            <a:r>
              <a:rPr b="1" lang="en"/>
              <a:t>PowerShell </a:t>
            </a:r>
            <a:r>
              <a:rPr lang="en"/>
              <a:t>we wcześniej utworzonym katalogu </a:t>
            </a:r>
            <a:r>
              <a:rPr lang="en"/>
              <a:t>(np.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C:\VMs\CML</a:t>
            </a:r>
            <a:r>
              <a:rPr lang="en"/>
              <a:t>):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# Wypakowanie głównych plików urządzenia wirtualnego z kontenera .ova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tar -xvf .\cml2_f_2.10.0-13_amd64-17.ova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# Konwersja wypakowanego dysku VMDK do natywnego formatu Hyper-V (.vhdx)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qemu-img convert -O vhdx .\cml2_2.10.0-13_amd64-17_SHA256-disk1.vmdk cml-disk.vhdx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fsutil sparse setflag .\cml-disk.vhdx 0 </a:t>
            </a:r>
            <a:br>
              <a:rPr b="1"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compact /u .\cml-disk.vhdx 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# Wypakowanie pobranego archiwum zip z platformami referencyjnymi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Expand-Archive -Path .\refplat-20260409-free-iso.zip -DestinationPath .</a:t>
            </a:r>
            <a:endParaRPr b="1"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Dwa wymagane pliki, które powinny znajdować się w naszym katalogu to: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refplat-20260409-free.iso</a:t>
            </a:r>
            <a:r>
              <a:rPr lang="en"/>
              <a:t> oraz </a:t>
            </a:r>
            <a:r>
              <a:rPr lang="en">
                <a:latin typeface="Roboto Mono"/>
                <a:ea typeface="Roboto Mono"/>
                <a:cs typeface="Roboto Mono"/>
                <a:sym typeface="Roboto Mono"/>
              </a:rPr>
              <a:t>cml-disk.vhdx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Dodatek 1.4</a:t>
            </a:r>
            <a:r>
              <a:rPr lang="en"/>
              <a:t>: Tworzenie maszyny wirtualnej w Hyper-V</a:t>
            </a:r>
            <a:endParaRPr/>
          </a:p>
        </p:txBody>
      </p:sp>
      <p:sp>
        <p:nvSpPr>
          <p:cNvPr id="159" name="Google Shape;159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Otwieramy Hyper-V Manager, aby utworzyć nową maszynę z parametrami: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Name</a:t>
            </a:r>
            <a:r>
              <a:rPr lang="en"/>
              <a:t>: </a:t>
            </a:r>
            <a:r>
              <a:rPr b="1" lang="en"/>
              <a:t>CML-Lab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Generation</a:t>
            </a:r>
            <a:r>
              <a:rPr lang="en"/>
              <a:t>: </a:t>
            </a:r>
            <a:r>
              <a:rPr b="1" lang="en"/>
              <a:t>Generation 2</a:t>
            </a:r>
            <a:r>
              <a:rPr lang="en"/>
              <a:t> (Wymagane dla obrazów CML)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Memory</a:t>
            </a:r>
            <a:r>
              <a:rPr lang="en"/>
              <a:t>: </a:t>
            </a:r>
            <a:r>
              <a:rPr b="1" lang="en"/>
              <a:t>16384 MB</a:t>
            </a:r>
            <a:r>
              <a:rPr lang="en"/>
              <a:t> (16 GB) - </a:t>
            </a:r>
            <a:r>
              <a:rPr b="1" lang="en"/>
              <a:t>Odznacz</a:t>
            </a:r>
            <a:r>
              <a:rPr lang="en"/>
              <a:t> "</a:t>
            </a:r>
            <a:r>
              <a:rPr b="1" lang="en"/>
              <a:t>Use Dynamic Memory</a:t>
            </a:r>
            <a:r>
              <a:rPr lang="en"/>
              <a:t>"</a:t>
            </a:r>
            <a:br>
              <a:rPr lang="en"/>
            </a:br>
            <a:r>
              <a:rPr lang="en"/>
              <a:t>(</a:t>
            </a:r>
            <a:r>
              <a:rPr b="1" lang="en"/>
              <a:t>8192 MB</a:t>
            </a:r>
            <a:r>
              <a:rPr lang="en"/>
              <a:t> jeśli Twój komputer posiada  </a:t>
            </a:r>
            <a:r>
              <a:rPr b="1" lang="en"/>
              <a:t>tylko 16 GB pamięci RAM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Network</a:t>
            </a:r>
            <a:r>
              <a:rPr lang="en"/>
              <a:t>: Wybierz swój wirtualny przełącznik sieciowy (np. </a:t>
            </a:r>
            <a:r>
              <a:rPr b="1" lang="en"/>
              <a:t>Default Switch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Hard Disk</a:t>
            </a:r>
            <a:r>
              <a:rPr lang="en"/>
              <a:t>: Wybierz "</a:t>
            </a:r>
            <a:r>
              <a:rPr b="1" lang="en"/>
              <a:t>Use an existing virtual hard disk</a:t>
            </a:r>
            <a:r>
              <a:rPr lang="en"/>
              <a:t>" i wskaż nowo utworzony plik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cml-disk.vhdx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Dodatek 1.5</a:t>
            </a:r>
            <a:r>
              <a:rPr lang="en"/>
              <a:t>: Konfiguracja sprzętu i napędu DVD</a:t>
            </a:r>
            <a:endParaRPr/>
          </a:p>
        </p:txBody>
      </p:sp>
      <p:sp>
        <p:nvSpPr>
          <p:cNvPr id="165" name="Google Shape;165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Przed pierwszym uruchomieniem </a:t>
            </a:r>
            <a:r>
              <a:rPr lang="en"/>
              <a:t>edytuj te ustawienia sprzętowe. Kliknij prawym przyciskiem na nową maszynę wirtualną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CML-Lab</a:t>
            </a:r>
            <a:r>
              <a:rPr lang="en"/>
              <a:t> i wybierz </a:t>
            </a:r>
            <a:r>
              <a:rPr b="1" lang="en"/>
              <a:t>Settings</a:t>
            </a:r>
            <a:r>
              <a:rPr lang="en"/>
              <a:t>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Security</a:t>
            </a:r>
            <a:r>
              <a:rPr lang="en"/>
              <a:t>: </a:t>
            </a:r>
            <a:r>
              <a:rPr b="1" lang="en"/>
              <a:t>Odznacz</a:t>
            </a:r>
            <a:r>
              <a:rPr lang="en"/>
              <a:t> “</a:t>
            </a:r>
            <a:r>
              <a:rPr b="1" lang="en"/>
              <a:t>Enable Secure Boot</a:t>
            </a:r>
            <a:r>
              <a:rPr lang="en"/>
              <a:t>“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Processor</a:t>
            </a:r>
            <a:r>
              <a:rPr lang="en"/>
              <a:t>: Ustaw liczbę wirtualnych procesorów na </a:t>
            </a:r>
            <a:r>
              <a:rPr b="1" lang="en"/>
              <a:t>8</a:t>
            </a:r>
            <a:r>
              <a:rPr lang="en"/>
              <a:t> (zalecana wartość)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SCSI Controller</a:t>
            </a:r>
            <a:r>
              <a:rPr lang="en"/>
              <a:t>: Wybierz </a:t>
            </a:r>
            <a:r>
              <a:rPr b="1" lang="en"/>
              <a:t>DVD Drive</a:t>
            </a:r>
            <a:r>
              <a:rPr lang="en"/>
              <a:t>, kliknij przycisk </a:t>
            </a:r>
            <a:r>
              <a:rPr b="1" lang="en"/>
              <a:t>Add</a:t>
            </a:r>
            <a:r>
              <a:rPr lang="en"/>
              <a:t>, wybierz </a:t>
            </a:r>
            <a:r>
              <a:rPr b="1" lang="en"/>
              <a:t>Image file</a:t>
            </a:r>
            <a:r>
              <a:rPr lang="en"/>
              <a:t>, oraz zaznacz wypakowany wcześniej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refplat-20260409-free.iso</a:t>
            </a:r>
            <a:endParaRPr b="1"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Naciśnij </a:t>
            </a:r>
            <a:r>
              <a:rPr b="1" lang="en"/>
              <a:t>Apply</a:t>
            </a:r>
            <a:r>
              <a:rPr lang="en"/>
              <a:t> i </a:t>
            </a:r>
            <a:r>
              <a:rPr b="1" lang="en"/>
              <a:t>OK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Dodatek 1.6</a:t>
            </a:r>
            <a:r>
              <a:rPr lang="en"/>
              <a:t>: Włączenie rozszerzeń Hyper-V</a:t>
            </a:r>
            <a:endParaRPr/>
          </a:p>
        </p:txBody>
      </p:sp>
      <p:sp>
        <p:nvSpPr>
          <p:cNvPr id="171" name="Google Shape;171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Otwórz nowy terminal PowerShell jako Administrator wymagane parametry dla naszej nowo utworzonej maszyny: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# Udostępnij wewnętrznej platformie CML fizyczne rozszerzenia wirtualizacji procesora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Set-VMProcessor -VMName "CML-Lab" -ExposeVirtualizationExtensions $true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200">
                <a:latin typeface="Roboto Mono"/>
                <a:ea typeface="Roboto Mono"/>
                <a:cs typeface="Roboto Mono"/>
                <a:sym typeface="Roboto Mono"/>
              </a:rPr>
              <a:t># Zezwól wewnętrznym routerom wirtualnym na komunikację z zewnętrznymi sieciami</a:t>
            </a:r>
            <a:br>
              <a:rPr lang="en" sz="1200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200">
                <a:latin typeface="Roboto Mono"/>
                <a:ea typeface="Roboto Mono"/>
                <a:cs typeface="Roboto Mono"/>
                <a:sym typeface="Roboto Mono"/>
              </a:rPr>
              <a:t>Get-VMNetworkAdapter -VMName "CML-Lab" | Set-VMNetworkAdapter -MacAddressSpoofing 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Dodatek 1.7</a:t>
            </a:r>
            <a:r>
              <a:rPr lang="en"/>
              <a:t>: Wstępna konfiguracja CML</a:t>
            </a:r>
            <a:endParaRPr/>
          </a:p>
        </p:txBody>
      </p:sp>
      <p:sp>
        <p:nvSpPr>
          <p:cNvPr id="177" name="Google Shape;177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Z poziomu </a:t>
            </a:r>
            <a:r>
              <a:rPr b="1" lang="en"/>
              <a:t>Hyper-V Manager</a:t>
            </a:r>
            <a:r>
              <a:rPr lang="en"/>
              <a:t>, kliknij prawym przyciskiem na </a:t>
            </a:r>
            <a:r>
              <a:rPr b="1" lang="en"/>
              <a:t>CML-Lab</a:t>
            </a:r>
            <a:r>
              <a:rPr lang="en"/>
              <a:t> i wybierz opcję </a:t>
            </a:r>
            <a:r>
              <a:rPr b="1" lang="en"/>
              <a:t>Start</a:t>
            </a:r>
            <a:r>
              <a:rPr lang="en"/>
              <a:t>, następnie </a:t>
            </a:r>
            <a:r>
              <a:rPr b="1" lang="en"/>
              <a:t>Connect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Przejdź przez początkowy kreator tekstowy w oknie konsoli, aby założyć konta (np. </a:t>
            </a:r>
            <a:r>
              <a:rPr b="1" lang="en"/>
              <a:t>admin</a:t>
            </a:r>
            <a:r>
              <a:rPr lang="en"/>
              <a:t> / </a:t>
            </a:r>
            <a:r>
              <a:rPr b="1" lang="en"/>
              <a:t>sysadmin</a:t>
            </a:r>
            <a:r>
              <a:rPr lang="en"/>
              <a:t>) i skonfigurować podstawowe ustawienia sieciowe (</a:t>
            </a:r>
            <a:r>
              <a:rPr b="1" lang="en"/>
              <a:t>DHCP</a:t>
            </a:r>
            <a:r>
              <a:rPr lang="en"/>
              <a:t> oraz </a:t>
            </a:r>
            <a:r>
              <a:rPr b="1" lang="en"/>
              <a:t>OpenSSH</a:t>
            </a:r>
            <a:r>
              <a:rPr lang="en"/>
              <a:t>). Jeśli nie udostępniamy serwisu osobom trzecim, warto wybrać standardowe, łatwe do zapamiętania hasło (np. </a:t>
            </a:r>
            <a:r>
              <a:rPr b="1" lang="en"/>
              <a:t>Cisco123!</a:t>
            </a:r>
            <a:r>
              <a:rPr lang="en"/>
              <a:t>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Obrazy routerów z pliku </a:t>
            </a:r>
            <a:r>
              <a:rPr b="1" lang="en">
                <a:latin typeface="Roboto Mono"/>
                <a:ea typeface="Roboto Mono"/>
                <a:cs typeface="Roboto Mono"/>
                <a:sym typeface="Roboto Mono"/>
              </a:rPr>
              <a:t>refplat-20260409-free.iso</a:t>
            </a:r>
            <a:r>
              <a:rPr lang="en"/>
              <a:t> powinny zostać automatycznie skopiowane podczas procesu instalacji. (Istnieje możliwość dodania ich później przez panel administratora, konto </a:t>
            </a:r>
            <a:r>
              <a:rPr b="1" lang="en"/>
              <a:t>sysadmin</a:t>
            </a:r>
            <a:r>
              <a:rPr lang="en"/>
              <a:t>).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Dodatek 1.8</a:t>
            </a:r>
            <a:r>
              <a:rPr lang="en"/>
              <a:t>: Dostęp do interfejsu CML</a:t>
            </a:r>
            <a:endParaRPr/>
          </a:p>
        </p:txBody>
      </p:sp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311700" y="1152475"/>
            <a:ext cx="4508100" cy="38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 konsoli CML są dwa adresy, na które dostaniemy z dowolnej przeglądarki internetowej w naszym systemie: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CML UI</a:t>
            </a:r>
            <a:r>
              <a:rPr lang="en"/>
              <a:t> (</a:t>
            </a: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https://&lt;IP&gt;/</a:t>
            </a:r>
            <a:r>
              <a:rPr lang="en"/>
              <a:t>): </a:t>
            </a:r>
            <a:br>
              <a:rPr lang="en"/>
            </a:br>
            <a:r>
              <a:rPr lang="en"/>
              <a:t>Logujemy się na konto </a:t>
            </a:r>
            <a:r>
              <a:rPr b="1" lang="en"/>
              <a:t>admin</a:t>
            </a:r>
            <a:r>
              <a:rPr lang="en"/>
              <a:t>/&lt;ustawione hasło&gt;, następnie przechodzimy do wykonywania naszego ćwiczenia.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Panel administratora (</a:t>
            </a:r>
            <a:r>
              <a:rPr lang="en" sz="1000">
                <a:latin typeface="Roboto Mono"/>
                <a:ea typeface="Roboto Mono"/>
                <a:cs typeface="Roboto Mono"/>
                <a:sym typeface="Roboto Mono"/>
              </a:rPr>
              <a:t>https://&lt;IP&gt;:9090/</a:t>
            </a:r>
            <a:r>
              <a:rPr lang="en"/>
              <a:t>): </a:t>
            </a:r>
            <a:br>
              <a:rPr lang="en"/>
            </a:br>
            <a:r>
              <a:rPr lang="en"/>
              <a:t>Nie powinien być nam potrzebny.</a:t>
            </a:r>
            <a:endParaRPr/>
          </a:p>
        </p:txBody>
      </p:sp>
      <p:pic>
        <p:nvPicPr>
          <p:cNvPr id="184" name="Google Shape;18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9875" y="1152475"/>
            <a:ext cx="4012417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